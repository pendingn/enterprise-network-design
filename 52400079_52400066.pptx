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9.svg" ContentType="image/svg+xml"/>
  <Override PartName="/ppt/media/image3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Paytone One" panose="00000500000000000000"/>
      <p:regular r:id="rId21"/>
    </p:embeddedFont>
    <p:embeddedFont>
      <p:font typeface="Bungee"/>
      <p:regular r:id="rId22"/>
    </p:embeddedFont>
    <p:embeddedFont>
      <p:font typeface="Open Sans"/>
      <p:regular r:id="rId23"/>
    </p:embeddedFont>
    <p:embeddedFont>
      <p:font typeface="Bevan" panose="00000500000000000000"/>
      <p:regular r:id="rId24"/>
    </p:embeddedFont>
    <p:embeddedFont>
      <p:font typeface="Noto Serif Display" panose="02020502080505020204"/>
      <p:regular r:id="rId25"/>
    </p:embeddedFont>
    <p:embeddedFont>
      <p:font typeface="Montserrat" panose="00000500000000000000"/>
      <p:regular r:id="rId26"/>
    </p:embeddedFont>
    <p:embeddedFont>
      <p:font typeface="Montserrat Bold" panose="00000800000000000000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4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4704" b="-3962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2412602" y="213470"/>
            <a:ext cx="5596742" cy="705881"/>
            <a:chOff x="0" y="0"/>
            <a:chExt cx="1474039" cy="185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4039" cy="185911"/>
            </a:xfrm>
            <a:custGeom>
              <a:avLst/>
              <a:gdLst/>
              <a:ahLst/>
              <a:cxnLst/>
              <a:rect l="l" t="t" r="r" b="b"/>
              <a:pathLst>
                <a:path w="1474039" h="185911">
                  <a:moveTo>
                    <a:pt x="92956" y="0"/>
                  </a:moveTo>
                  <a:lnTo>
                    <a:pt x="1381084" y="0"/>
                  </a:lnTo>
                  <a:cubicBezTo>
                    <a:pt x="1405737" y="0"/>
                    <a:pt x="1429380" y="9793"/>
                    <a:pt x="1446813" y="27226"/>
                  </a:cubicBezTo>
                  <a:cubicBezTo>
                    <a:pt x="1464246" y="44659"/>
                    <a:pt x="1474039" y="68302"/>
                    <a:pt x="1474039" y="92956"/>
                  </a:cubicBezTo>
                  <a:lnTo>
                    <a:pt x="1474039" y="92956"/>
                  </a:lnTo>
                  <a:cubicBezTo>
                    <a:pt x="1474039" y="144293"/>
                    <a:pt x="1432421" y="185911"/>
                    <a:pt x="1381084" y="185911"/>
                  </a:cubicBezTo>
                  <a:lnTo>
                    <a:pt x="92956" y="185911"/>
                  </a:lnTo>
                  <a:cubicBezTo>
                    <a:pt x="41618" y="185911"/>
                    <a:pt x="0" y="144293"/>
                    <a:pt x="0" y="92956"/>
                  </a:cubicBezTo>
                  <a:lnTo>
                    <a:pt x="0" y="92956"/>
                  </a:lnTo>
                  <a:cubicBezTo>
                    <a:pt x="0" y="41618"/>
                    <a:pt x="41618" y="0"/>
                    <a:pt x="929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4039" cy="22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5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12681158" y="420838"/>
            <a:ext cx="367268" cy="291144"/>
          </a:xfrm>
          <a:custGeom>
            <a:avLst/>
            <a:gdLst/>
            <a:ahLst/>
            <a:cxnLst/>
            <a:rect l="l" t="t" r="r" b="b"/>
            <a:pathLst>
              <a:path w="367268" h="291144">
                <a:moveTo>
                  <a:pt x="0" y="0"/>
                </a:moveTo>
                <a:lnTo>
                  <a:pt x="367268" y="0"/>
                </a:lnTo>
                <a:lnTo>
                  <a:pt x="367268" y="291144"/>
                </a:lnTo>
                <a:lnTo>
                  <a:pt x="0" y="291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985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3622" r="-7877" b="-5255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26288" y="2567349"/>
            <a:ext cx="12774183" cy="194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70"/>
              </a:lnSpc>
              <a:spcBef>
                <a:spcPct val="0"/>
              </a:spcBef>
            </a:pPr>
            <a:r>
              <a:rPr lang="en-US" sz="11410">
                <a:solidFill>
                  <a:srgbClr val="5A98FA"/>
                </a:solidFill>
                <a:latin typeface="Paytone One" panose="00000500000000000000"/>
                <a:ea typeface="Paytone One" panose="00000500000000000000"/>
                <a:cs typeface="Paytone One" panose="00000500000000000000"/>
                <a:sym typeface="Paytone One" panose="00000500000000000000"/>
              </a:rPr>
              <a:t>GIAO THỨC </a:t>
            </a:r>
            <a:endParaRPr lang="en-US" sz="11410">
              <a:solidFill>
                <a:srgbClr val="5A98FA"/>
              </a:solidFill>
              <a:latin typeface="Paytone One" panose="00000500000000000000"/>
              <a:ea typeface="Paytone One" panose="00000500000000000000"/>
              <a:cs typeface="Paytone One" panose="00000500000000000000"/>
              <a:sym typeface="Paytone On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63784" y="4182554"/>
            <a:ext cx="14340833" cy="620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70"/>
              </a:lnSpc>
            </a:pPr>
            <a:r>
              <a:rPr lang="en-US" sz="11410">
                <a:solidFill>
                  <a:srgbClr val="5A98FA"/>
                </a:solidFill>
                <a:latin typeface="Bungee"/>
                <a:ea typeface="Bungee"/>
                <a:cs typeface="Bungee"/>
                <a:sym typeface="Bungee"/>
              </a:rPr>
              <a:t>VÀ MẠNG MÁY TÍNH</a:t>
            </a:r>
            <a:endParaRPr lang="en-US" sz="11410">
              <a:solidFill>
                <a:srgbClr val="5A98FA"/>
              </a:solidFill>
              <a:latin typeface="Bungee"/>
              <a:ea typeface="Bungee"/>
              <a:cs typeface="Bungee"/>
              <a:sym typeface="Bungee"/>
            </a:endParaRPr>
          </a:p>
          <a:p>
            <a:pPr algn="ctr">
              <a:lnSpc>
                <a:spcPts val="1597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3905070" y="1107840"/>
            <a:ext cx="3790801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SV.VuThuyLinh</a:t>
            </a:r>
            <a:endParaRPr lang="en-US" sz="2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SV.HaTuanAnh</a:t>
            </a:r>
            <a:endParaRPr lang="en-US" sz="2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64792" y="430811"/>
            <a:ext cx="5254341" cy="289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5"/>
              </a:lnSpc>
              <a:spcBef>
                <a:spcPct val="0"/>
              </a:spcBef>
            </a:pPr>
            <a:r>
              <a:rPr lang="en-US" sz="1720" spc="4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WWW.TS.TRANTHANHNAM.COM</a:t>
            </a:r>
            <a:endParaRPr lang="en-US" sz="1720" spc="48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986497"/>
            <a:ext cx="229303" cy="271803"/>
          </a:xfrm>
          <a:custGeom>
            <a:avLst/>
            <a:gdLst/>
            <a:ahLst/>
            <a:cxnLst/>
            <a:rect l="l" t="t" r="r" b="b"/>
            <a:pathLst>
              <a:path w="229303" h="271803">
                <a:moveTo>
                  <a:pt x="0" y="0"/>
                </a:moveTo>
                <a:lnTo>
                  <a:pt x="229303" y="0"/>
                </a:lnTo>
                <a:lnTo>
                  <a:pt x="229303" y="271803"/>
                </a:lnTo>
                <a:lnTo>
                  <a:pt x="0" y="271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7007" y="1339647"/>
            <a:ext cx="9979897" cy="127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65"/>
              </a:lnSpc>
            </a:pPr>
            <a:r>
              <a:rPr lang="en-US" sz="12485">
                <a:solidFill>
                  <a:srgbClr val="75B2E9"/>
                </a:solidFill>
                <a:latin typeface="RQND Pro Wide" panose="00000500000000000000"/>
                <a:ea typeface="RQND Pro Wide" panose="00000500000000000000"/>
                <a:cs typeface="RQND Pro Wide" panose="00000500000000000000"/>
                <a:sym typeface="RQND Pro Wide" panose="00000500000000000000"/>
              </a:rPr>
              <a:t>NỘI DUNG</a:t>
            </a:r>
            <a:endParaRPr lang="en-US" sz="12485">
              <a:solidFill>
                <a:srgbClr val="75B2E9"/>
              </a:solidFill>
              <a:latin typeface="RQND Pro Wide" panose="00000500000000000000"/>
              <a:ea typeface="RQND Pro Wide" panose="00000500000000000000"/>
              <a:cs typeface="RQND Pro Wide" panose="00000500000000000000"/>
              <a:sym typeface="RQND Pro Wide" panose="000005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1985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3622" r="-7877" b="-52557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-119855" y="2822297"/>
            <a:ext cx="18407855" cy="7464703"/>
            <a:chOff x="0" y="0"/>
            <a:chExt cx="4848159" cy="19660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48160" cy="1966012"/>
            </a:xfrm>
            <a:custGeom>
              <a:avLst/>
              <a:gdLst/>
              <a:ahLst/>
              <a:cxnLst/>
              <a:rect l="l" t="t" r="r" b="b"/>
              <a:pathLst>
                <a:path w="4848160" h="1966012">
                  <a:moveTo>
                    <a:pt x="0" y="0"/>
                  </a:moveTo>
                  <a:lnTo>
                    <a:pt x="4848160" y="0"/>
                  </a:lnTo>
                  <a:lnTo>
                    <a:pt x="4848160" y="1966012"/>
                  </a:lnTo>
                  <a:lnTo>
                    <a:pt x="0" y="19660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48159" cy="2023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5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25517" y="8842055"/>
            <a:ext cx="2221898" cy="41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5"/>
              </a:lnSpc>
              <a:spcBef>
                <a:spcPct val="0"/>
              </a:spcBef>
            </a:pPr>
            <a:r>
              <a:rPr lang="en-US" sz="2360">
                <a:solidFill>
                  <a:srgbClr val="000000"/>
                </a:solidFill>
                <a:latin typeface="RQND Pro Wide" panose="00000500000000000000"/>
                <a:ea typeface="RQND Pro Wide" panose="00000500000000000000"/>
                <a:cs typeface="RQND Pro Wide" panose="00000500000000000000"/>
                <a:sym typeface="RQND Pro Wide" panose="00000500000000000000"/>
              </a:rPr>
              <a:t>borcelle</a:t>
            </a:r>
            <a:endParaRPr lang="en-US" sz="2360">
              <a:solidFill>
                <a:srgbClr val="000000"/>
              </a:solidFill>
              <a:latin typeface="RQND Pro Wide" panose="00000500000000000000"/>
              <a:ea typeface="RQND Pro Wide" panose="00000500000000000000"/>
              <a:cs typeface="RQND Pro Wide" panose="00000500000000000000"/>
              <a:sym typeface="RQND Pro Wid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543" y="3213641"/>
            <a:ext cx="7641758" cy="574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 1.Giới  thiệu </a:t>
            </a:r>
            <a:endParaRPr lang="en-US" sz="55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Giới thiệu đề tài</a:t>
            </a:r>
            <a:endParaRPr lang="en-US" sz="2700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marL="582930" lvl="1" indent="-291465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Mục tiêu</a:t>
            </a:r>
            <a:endParaRPr lang="en-US" sz="2700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algn="l">
              <a:lnSpc>
                <a:spcPts val="7700"/>
              </a:lnSpc>
            </a:pPr>
            <a:r>
              <a:rPr lang="en-US" sz="550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 2.Cơ sở lý thuyết</a:t>
            </a:r>
            <a:endParaRPr lang="en-US" sz="55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  <a:p>
            <a:pPr marL="604520" lvl="1" indent="-302260" algn="l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Thiết bị</a:t>
            </a:r>
            <a:endParaRPr lang="en-US" sz="2800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marL="604520" lvl="1" indent="-302260" algn="l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Công nghệ</a:t>
            </a:r>
            <a:endParaRPr lang="en-US" sz="2800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8305780" y="3086006"/>
            <a:ext cx="9800610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 u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3.MÔ HÌNH LUẬN LÍ</a:t>
            </a:r>
            <a:endParaRPr lang="en-US" sz="5500" u="none" strike="noStrike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  <a:p>
            <a:pPr marL="604520" lvl="1" indent="-302260" algn="l">
              <a:lnSpc>
                <a:spcPts val="392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Lớp truy cập</a:t>
            </a:r>
            <a:endParaRPr lang="en-US" sz="2800" u="none" strike="noStrike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marL="604520" lvl="1" indent="-302260" algn="l">
              <a:lnSpc>
                <a:spcPts val="392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Lớp phân phối/lõi</a:t>
            </a:r>
            <a:endParaRPr lang="en-US" sz="2800" u="none" strike="noStrike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marL="604520" lvl="1" indent="-302260" algn="l">
              <a:lnSpc>
                <a:spcPts val="392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DMZ</a:t>
            </a:r>
            <a:endParaRPr lang="en-US" sz="2800" u="none" strike="noStrike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 u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4.MÔ HÌNH VẬT LÍ</a:t>
            </a:r>
            <a:endParaRPr lang="en-US" sz="5500" u="none" strike="noStrike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  <a:p>
            <a:pPr marL="604520" lvl="1" indent="-302260" algn="l">
              <a:lnSpc>
                <a:spcPts val="392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800" u="none" strike="noStrike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T</a:t>
            </a:r>
            <a:r>
              <a:rPr lang="en-US" sz="2800" u="none" strike="noStrike">
                <a:solidFill>
                  <a:srgbClr val="000000"/>
                </a:solidFill>
                <a:latin typeface="Bevan" panose="00000500000000000000"/>
                <a:ea typeface="Bevan" panose="00000500000000000000"/>
                <a:cs typeface="Bevan" panose="00000500000000000000"/>
                <a:sym typeface="Bevan" panose="00000500000000000000"/>
              </a:rPr>
              <a:t>riển khai</a:t>
            </a:r>
            <a:endParaRPr lang="en-US" sz="2800" u="none" strike="noStrike">
              <a:solidFill>
                <a:srgbClr val="000000"/>
              </a:solidFill>
              <a:latin typeface="Bevan" panose="00000500000000000000"/>
              <a:ea typeface="Bevan" panose="00000500000000000000"/>
              <a:cs typeface="Bevan" panose="00000500000000000000"/>
              <a:sym typeface="Bevan" panose="000005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7475583" y="5971229"/>
            <a:ext cx="244005" cy="189437"/>
          </a:xfrm>
          <a:custGeom>
            <a:avLst/>
            <a:gdLst/>
            <a:ahLst/>
            <a:cxnLst/>
            <a:rect l="l" t="t" r="r" b="b"/>
            <a:pathLst>
              <a:path w="244005" h="189437">
                <a:moveTo>
                  <a:pt x="244005" y="0"/>
                </a:moveTo>
                <a:lnTo>
                  <a:pt x="0" y="0"/>
                </a:lnTo>
                <a:lnTo>
                  <a:pt x="0" y="189437"/>
                </a:lnTo>
                <a:lnTo>
                  <a:pt x="244005" y="189437"/>
                </a:lnTo>
                <a:lnTo>
                  <a:pt x="244005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93248"/>
            <a:ext cx="11740124" cy="1530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GIỚI THIỆU ĐỀ TÀI </a:t>
            </a:r>
            <a:endParaRPr lang="en-US" sz="80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700" y="3428376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1862317" y="-2557709"/>
            <a:ext cx="7156962" cy="5600323"/>
          </a:xfrm>
          <a:custGeom>
            <a:avLst/>
            <a:gdLst/>
            <a:ahLst/>
            <a:cxnLst/>
            <a:rect l="l" t="t" r="r" b="b"/>
            <a:pathLst>
              <a:path w="7156962" h="5600323">
                <a:moveTo>
                  <a:pt x="0" y="0"/>
                </a:moveTo>
                <a:lnTo>
                  <a:pt x="7156962" y="0"/>
                </a:lnTo>
                <a:lnTo>
                  <a:pt x="7156962" y="5600323"/>
                </a:lnTo>
                <a:lnTo>
                  <a:pt x="0" y="5600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3816435"/>
            <a:ext cx="2446839" cy="292865"/>
          </a:xfrm>
          <a:custGeom>
            <a:avLst/>
            <a:gdLst/>
            <a:ahLst/>
            <a:cxnLst/>
            <a:rect l="l" t="t" r="r" b="b"/>
            <a:pathLst>
              <a:path w="2446839" h="292865">
                <a:moveTo>
                  <a:pt x="0" y="0"/>
                </a:moveTo>
                <a:lnTo>
                  <a:pt x="2446839" y="0"/>
                </a:lnTo>
                <a:lnTo>
                  <a:pt x="2446839" y="292865"/>
                </a:lnTo>
                <a:lnTo>
                  <a:pt x="0" y="292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812461" y="3816435"/>
            <a:ext cx="2446839" cy="292865"/>
          </a:xfrm>
          <a:custGeom>
            <a:avLst/>
            <a:gdLst/>
            <a:ahLst/>
            <a:cxnLst/>
            <a:rect l="l" t="t" r="r" b="b"/>
            <a:pathLst>
              <a:path w="2446839" h="292865">
                <a:moveTo>
                  <a:pt x="2446839" y="0"/>
                </a:moveTo>
                <a:lnTo>
                  <a:pt x="0" y="0"/>
                </a:lnTo>
                <a:lnTo>
                  <a:pt x="0" y="292865"/>
                </a:lnTo>
                <a:lnTo>
                  <a:pt x="2446839" y="292865"/>
                </a:lnTo>
                <a:lnTo>
                  <a:pt x="24468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028700" y="4499825"/>
            <a:ext cx="244005" cy="189437"/>
          </a:xfrm>
          <a:custGeom>
            <a:avLst/>
            <a:gdLst/>
            <a:ahLst/>
            <a:cxnLst/>
            <a:rect l="l" t="t" r="r" b="b"/>
            <a:pathLst>
              <a:path w="244005" h="189437">
                <a:moveTo>
                  <a:pt x="0" y="189436"/>
                </a:moveTo>
                <a:lnTo>
                  <a:pt x="244005" y="189436"/>
                </a:lnTo>
                <a:lnTo>
                  <a:pt x="244005" y="0"/>
                </a:lnTo>
                <a:lnTo>
                  <a:pt x="0" y="0"/>
                </a:lnTo>
                <a:lnTo>
                  <a:pt x="0" y="189436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2705" y="4660686"/>
            <a:ext cx="16446883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60"/>
              </a:lnSpc>
            </a:pPr>
            <a:r>
              <a:rPr lang="en-US" sz="3200" spc="-128">
                <a:solidFill>
                  <a:srgbClr val="000000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</a:t>
            </a:r>
            <a:r>
              <a:rPr lang="en-US" sz="3200" spc="-128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Thiết kế và triển khai hệ thống mạng máy tính cho một Doanh nghiệp phân phối hàng tiêu dùng có trụ sở chính ở Thành phố Hồ Chí Minh </a:t>
            </a:r>
            <a:endParaRPr lang="en-US" sz="3200" spc="-128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algn="just">
              <a:lnSpc>
                <a:spcPts val="4160"/>
              </a:lnSpc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9358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3622" r="-7877" b="-5255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76118" y="6027847"/>
            <a:ext cx="14535763" cy="310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0"/>
              </a:lnSpc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Trụ sở chính: Thành phố Hồ Chí Minh: 6 phòng ban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69290" lvl="1" indent="-334645" algn="just">
              <a:lnSpc>
                <a:spcPts val="4030"/>
              </a:lnSpc>
              <a:buFont typeface="Arial" panose="020B0604020202020204"/>
              <a:buChar char="•"/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Tầng 1: Sales, Marketing, HR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69290" lvl="1" indent="-334645" algn="just">
              <a:lnSpc>
                <a:spcPts val="4030"/>
              </a:lnSpc>
              <a:buFont typeface="Arial" panose="020B0604020202020204"/>
              <a:buChar char="•"/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Tầng 2: Finance, RaD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69290" lvl="1" indent="-334645" algn="just">
              <a:lnSpc>
                <a:spcPts val="4030"/>
              </a:lnSpc>
              <a:buFont typeface="Arial" panose="020B0604020202020204"/>
              <a:buChar char="•"/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Tầng 3: IT, SW-INServer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0" lvl="0" indent="0" algn="just">
              <a:lnSpc>
                <a:spcPts val="4030"/>
              </a:lnSpc>
              <a:spcBef>
                <a:spcPct val="0"/>
              </a:spcBef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Chi nhánh: tỉnh Đắk Lắk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69290" lvl="1" indent="-334645" algn="just">
              <a:lnSpc>
                <a:spcPts val="4030"/>
              </a:lnSpc>
              <a:buFont typeface="Arial" panose="020B0604020202020204"/>
              <a:buChar char="•"/>
            </a:pPr>
            <a:r>
              <a:rPr lang="en-US" sz="3100" u="none" strike="noStrike" spc="-123">
                <a:solidFill>
                  <a:srgbClr val="000000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3 phòng ban chung một tầng</a:t>
            </a:r>
            <a:endParaRPr lang="en-US" sz="3100" u="none" strike="noStrike" spc="-123">
              <a:solidFill>
                <a:srgbClr val="000000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 rot="-1378836">
            <a:off x="-1816049" y="7808466"/>
            <a:ext cx="3406828" cy="3619472"/>
          </a:xfrm>
          <a:custGeom>
            <a:avLst/>
            <a:gdLst/>
            <a:ahLst/>
            <a:cxnLst/>
            <a:rect l="l" t="t" r="r" b="b"/>
            <a:pathLst>
              <a:path w="3406828" h="3619472">
                <a:moveTo>
                  <a:pt x="0" y="0"/>
                </a:moveTo>
                <a:lnTo>
                  <a:pt x="3406828" y="0"/>
                </a:lnTo>
                <a:lnTo>
                  <a:pt x="3406828" y="3619473"/>
                </a:lnTo>
                <a:lnTo>
                  <a:pt x="0" y="36194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75" y="-404648"/>
            <a:ext cx="2756787" cy="2764042"/>
          </a:xfrm>
          <a:custGeom>
            <a:avLst/>
            <a:gdLst/>
            <a:ahLst/>
            <a:cxnLst/>
            <a:rect l="l" t="t" r="r" b="b"/>
            <a:pathLst>
              <a:path w="2756787" h="2764042">
                <a:moveTo>
                  <a:pt x="0" y="0"/>
                </a:moveTo>
                <a:lnTo>
                  <a:pt x="2756787" y="0"/>
                </a:lnTo>
                <a:lnTo>
                  <a:pt x="2756787" y="2764042"/>
                </a:lnTo>
                <a:lnTo>
                  <a:pt x="0" y="276404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32958" y="1801766"/>
            <a:ext cx="7581861" cy="3939348"/>
            <a:chOff x="0" y="0"/>
            <a:chExt cx="1657619" cy="8612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7622" cy="861259"/>
            </a:xfrm>
            <a:custGeom>
              <a:avLst/>
              <a:gdLst/>
              <a:ahLst/>
              <a:cxnLst/>
              <a:rect l="l" t="t" r="r" b="b"/>
              <a:pathLst>
                <a:path w="1657622" h="861259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2"/>
              <a:stretch>
                <a:fillRect t="-13716" b="-1371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9448177" y="6185547"/>
            <a:ext cx="7581861" cy="3939348"/>
            <a:chOff x="0" y="0"/>
            <a:chExt cx="1657619" cy="8612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7622" cy="861259"/>
            </a:xfrm>
            <a:custGeom>
              <a:avLst/>
              <a:gdLst/>
              <a:ahLst/>
              <a:cxnLst/>
              <a:rect l="l" t="t" r="r" b="b"/>
              <a:pathLst>
                <a:path w="1657622" h="861259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3"/>
              <a:stretch>
                <a:fillRect t="-4447" b="-444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732958" y="6185547"/>
            <a:ext cx="7581861" cy="3939348"/>
            <a:chOff x="0" y="0"/>
            <a:chExt cx="1657619" cy="8612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57622" cy="861259"/>
            </a:xfrm>
            <a:custGeom>
              <a:avLst/>
              <a:gdLst/>
              <a:ahLst/>
              <a:cxnLst/>
              <a:rect l="l" t="t" r="r" b="b"/>
              <a:pathLst>
                <a:path w="1657622" h="861259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4"/>
              <a:stretch>
                <a:fillRect t="-14114" b="-1411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9448177" y="1801766"/>
            <a:ext cx="7581861" cy="3939348"/>
            <a:chOff x="0" y="0"/>
            <a:chExt cx="1657619" cy="861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7622" cy="861259"/>
            </a:xfrm>
            <a:custGeom>
              <a:avLst/>
              <a:gdLst/>
              <a:ahLst/>
              <a:cxnLst/>
              <a:rect l="l" t="t" r="r" b="b"/>
              <a:pathLst>
                <a:path w="1657622" h="861259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5"/>
              <a:stretch>
                <a:fillRect t="-14155" b="-1415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076143" y="-176259"/>
            <a:ext cx="8115300" cy="1530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MỤC TIÊU</a:t>
            </a:r>
            <a:endParaRPr lang="en-US" sz="80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68753" y="1890363"/>
            <a:ext cx="351286" cy="84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1</a:t>
            </a:r>
            <a:endParaRPr lang="en-US" sz="494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678752" y="1890363"/>
            <a:ext cx="351286" cy="84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2</a:t>
            </a:r>
            <a:endParaRPr lang="en-US" sz="494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768753" y="6274514"/>
            <a:ext cx="351286" cy="84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3</a:t>
            </a:r>
            <a:endParaRPr lang="en-US" sz="494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678752" y="6274514"/>
            <a:ext cx="351286" cy="84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4</a:t>
            </a:r>
            <a:endParaRPr lang="en-US" sz="494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409081" y="51547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460786" y="628301"/>
            <a:ext cx="1665830" cy="588932"/>
            <a:chOff x="0" y="0"/>
            <a:chExt cx="438737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737" cy="155110"/>
            </a:xfrm>
            <a:custGeom>
              <a:avLst/>
              <a:gdLst/>
              <a:ahLst/>
              <a:cxnLst/>
              <a:rect l="l" t="t" r="r" b="b"/>
              <a:pathLst>
                <a:path w="438737" h="155110">
                  <a:moveTo>
                    <a:pt x="77555" y="0"/>
                  </a:moveTo>
                  <a:lnTo>
                    <a:pt x="361182" y="0"/>
                  </a:lnTo>
                  <a:cubicBezTo>
                    <a:pt x="404015" y="0"/>
                    <a:pt x="438737" y="34722"/>
                    <a:pt x="438737" y="77555"/>
                  </a:cubicBezTo>
                  <a:lnTo>
                    <a:pt x="438737" y="77555"/>
                  </a:lnTo>
                  <a:cubicBezTo>
                    <a:pt x="438737" y="120387"/>
                    <a:pt x="404015" y="155110"/>
                    <a:pt x="361182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8737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962406" r="-308968"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-335578" y="4238848"/>
            <a:ext cx="2235519" cy="1956080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-122723" y="-114526"/>
            <a:ext cx="2022664" cy="2027986"/>
          </a:xfrm>
          <a:custGeom>
            <a:avLst/>
            <a:gdLst/>
            <a:ahLst/>
            <a:cxnLst/>
            <a:rect l="l" t="t" r="r" b="b"/>
            <a:pathLst>
              <a:path w="2022664" h="2027986">
                <a:moveTo>
                  <a:pt x="0" y="0"/>
                </a:moveTo>
                <a:lnTo>
                  <a:pt x="2022664" y="0"/>
                </a:lnTo>
                <a:lnTo>
                  <a:pt x="2022664" y="2027987"/>
                </a:lnTo>
                <a:lnTo>
                  <a:pt x="0" y="2027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6829803" y="1823406"/>
            <a:ext cx="9887749" cy="7749107"/>
            <a:chOff x="0" y="0"/>
            <a:chExt cx="2687243" cy="21060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87245" cy="2106027"/>
            </a:xfrm>
            <a:custGeom>
              <a:avLst/>
              <a:gdLst/>
              <a:ahLst/>
              <a:cxnLst/>
              <a:rect l="l" t="t" r="r" b="b"/>
              <a:pathLst>
                <a:path w="2687245" h="2106027">
                  <a:moveTo>
                    <a:pt x="219980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928353"/>
                  </a:lnTo>
                  <a:cubicBezTo>
                    <a:pt x="0" y="2026479"/>
                    <a:pt x="79547" y="2106026"/>
                    <a:pt x="177673" y="2106026"/>
                  </a:cubicBezTo>
                  <a:lnTo>
                    <a:pt x="2509572" y="2106026"/>
                  </a:lnTo>
                  <a:cubicBezTo>
                    <a:pt x="2607698" y="2106026"/>
                    <a:pt x="2687245" y="2026479"/>
                    <a:pt x="2687245" y="1928353"/>
                  </a:cubicBezTo>
                  <a:lnTo>
                    <a:pt x="2687245" y="523958"/>
                  </a:lnTo>
                  <a:cubicBezTo>
                    <a:pt x="2687245" y="480251"/>
                    <a:pt x="2671135" y="438079"/>
                    <a:pt x="2641996" y="405503"/>
                  </a:cubicBezTo>
                  <a:lnTo>
                    <a:pt x="2332218" y="59214"/>
                  </a:lnTo>
                  <a:cubicBezTo>
                    <a:pt x="2298514" y="21536"/>
                    <a:pt x="2250355" y="0"/>
                    <a:pt x="2199802" y="0"/>
                  </a:cubicBezTo>
                  <a:close/>
                </a:path>
              </a:pathLst>
            </a:custGeom>
            <a:blipFill>
              <a:blip r:embed="rId4"/>
              <a:stretch>
                <a:fillRect l="-480" r="-48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4441856" y="729745"/>
            <a:ext cx="166255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0"/>
              </a:lnSpc>
              <a:spcBef>
                <a:spcPct val="0"/>
              </a:spcBef>
            </a:pPr>
            <a:r>
              <a:rPr lang="en-US" sz="1850" spc="3">
                <a:solidFill>
                  <a:srgbClr val="101B4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HOME</a:t>
            </a:r>
            <a:endParaRPr lang="en-US" sz="1850" spc="3">
              <a:solidFill>
                <a:srgbClr val="101B4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29803" y="731958"/>
            <a:ext cx="190708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0"/>
              </a:lnSpc>
              <a:spcBef>
                <a:spcPct val="0"/>
              </a:spcBef>
            </a:pPr>
            <a:r>
              <a:rPr lang="en-US" sz="1850" spc="3">
                <a:solidFill>
                  <a:srgbClr val="101B4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ABOUT</a:t>
            </a:r>
            <a:endParaRPr lang="en-US" sz="1850" spc="3">
              <a:solidFill>
                <a:srgbClr val="101B4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0"/>
              </a:lnSpc>
              <a:spcBef>
                <a:spcPct val="0"/>
              </a:spcBef>
            </a:pPr>
            <a:r>
              <a:rPr lang="en-US" sz="1850" b="1" spc="3">
                <a:solidFill>
                  <a:srgbClr val="F4F4F4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CONTENT</a:t>
            </a:r>
            <a:endParaRPr lang="en-US" sz="1850" b="1" spc="3">
              <a:solidFill>
                <a:srgbClr val="F4F4F4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594836" y="729745"/>
            <a:ext cx="222497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0"/>
              </a:lnSpc>
              <a:spcBef>
                <a:spcPct val="0"/>
              </a:spcBef>
            </a:pPr>
            <a:r>
              <a:rPr lang="en-US" sz="1850" spc="3">
                <a:solidFill>
                  <a:srgbClr val="101B4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OTHERS</a:t>
            </a:r>
            <a:endParaRPr lang="en-US" sz="1850" spc="3">
              <a:solidFill>
                <a:srgbClr val="101B4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09489" y="3924523"/>
            <a:ext cx="6952526" cy="1530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THIẾT BỊ</a:t>
            </a:r>
            <a:endParaRPr lang="en-US" sz="8000" u="none" strike="noStrike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35578" y="4238848"/>
            <a:ext cx="2235519" cy="1956080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036842" y="-119277"/>
            <a:ext cx="14073077" cy="1530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BẢNG DỰ TRÙ THIẾT BỊ </a:t>
            </a:r>
            <a:endParaRPr lang="en-US" sz="8000">
              <a:solidFill>
                <a:srgbClr val="000000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65010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3622" r="-7877" b="-52557"/>
            </a:stretch>
          </a:blipFill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57300"/>
            <a:ext cx="13277850" cy="8949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3622" r="-7877" b="-5255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72389" y="1441043"/>
            <a:ext cx="11143222" cy="8190992"/>
          </a:xfrm>
          <a:custGeom>
            <a:avLst/>
            <a:gdLst/>
            <a:ahLst/>
            <a:cxnLst/>
            <a:rect l="l" t="t" r="r" b="b"/>
            <a:pathLst>
              <a:path w="11143222" h="8190992">
                <a:moveTo>
                  <a:pt x="0" y="0"/>
                </a:moveTo>
                <a:lnTo>
                  <a:pt x="11143222" y="0"/>
                </a:lnTo>
                <a:lnTo>
                  <a:pt x="11143222" y="8190992"/>
                </a:lnTo>
                <a:lnTo>
                  <a:pt x="0" y="8190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82875" y="-11430"/>
            <a:ext cx="10918190" cy="1389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35"/>
              </a:lnSpc>
              <a:spcBef>
                <a:spcPct val="0"/>
              </a:spcBef>
            </a:pPr>
            <a:r>
              <a:rPr lang="en-US" sz="774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3.MÔ HÌNH LUẬN LÍ</a:t>
            </a:r>
            <a:endParaRPr lang="en-US" sz="774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03" y="157239"/>
            <a:ext cx="11152810" cy="10287000"/>
          </a:xfrm>
          <a:custGeom>
            <a:avLst/>
            <a:gdLst/>
            <a:ahLst/>
            <a:cxnLst/>
            <a:rect l="l" t="t" r="r" b="b"/>
            <a:pathLst>
              <a:path w="11152810" h="10287000">
                <a:moveTo>
                  <a:pt x="0" y="0"/>
                </a:moveTo>
                <a:lnTo>
                  <a:pt x="11152810" y="0"/>
                </a:lnTo>
                <a:lnTo>
                  <a:pt x="111528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319313" y="61989"/>
            <a:ext cx="5133791" cy="81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0"/>
              </a:lnSpc>
            </a:pPr>
            <a:r>
              <a:rPr lang="en-US" sz="479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Mô hình phân lớp</a:t>
            </a:r>
            <a:endParaRPr lang="en-US" sz="479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622" r="-7877" b="-52557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244" y="3622800"/>
            <a:ext cx="16837756" cy="6664200"/>
          </a:xfrm>
          <a:custGeom>
            <a:avLst/>
            <a:gdLst/>
            <a:ahLst/>
            <a:cxnLst/>
            <a:rect l="l" t="t" r="r" b="b"/>
            <a:pathLst>
              <a:path w="16837756" h="6664200">
                <a:moveTo>
                  <a:pt x="0" y="0"/>
                </a:moveTo>
                <a:lnTo>
                  <a:pt x="16837756" y="0"/>
                </a:lnTo>
                <a:lnTo>
                  <a:pt x="16837756" y="6664200"/>
                </a:lnTo>
                <a:lnTo>
                  <a:pt x="0" y="66642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8613" t="-154740" r="-69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67330" y="66040"/>
            <a:ext cx="7706360" cy="1153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42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LỚP ACCESS</a:t>
            </a:r>
            <a:endParaRPr lang="en-US" sz="642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622" r="-7877" b="-525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9324" y="3594225"/>
            <a:ext cx="1074903" cy="362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20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30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40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50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60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70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90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99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150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  <a:p>
            <a:pPr algn="ctr">
              <a:lnSpc>
                <a:spcPts val="2895"/>
              </a:lnSpc>
            </a:pPr>
            <a:r>
              <a:rPr lang="en-US" sz="206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Vlan 199</a:t>
            </a:r>
            <a:endParaRPr lang="en-US" sz="206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3622" r="-7877" b="-5255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308860"/>
            <a:ext cx="18288000" cy="7978140"/>
          </a:xfrm>
          <a:custGeom>
            <a:avLst/>
            <a:gdLst/>
            <a:ahLst/>
            <a:cxnLst/>
            <a:rect l="l" t="t" r="r" b="b"/>
            <a:pathLst>
              <a:path w="18288000" h="7978140">
                <a:moveTo>
                  <a:pt x="0" y="0"/>
                </a:moveTo>
                <a:lnTo>
                  <a:pt x="18288000" y="0"/>
                </a:lnTo>
                <a:lnTo>
                  <a:pt x="18288000" y="7978140"/>
                </a:lnTo>
                <a:lnTo>
                  <a:pt x="0" y="7978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01089" y="111147"/>
            <a:ext cx="7623378" cy="1094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42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LỚP DISTRIBUTION</a:t>
            </a:r>
            <a:endParaRPr lang="en-US" sz="642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3622" r="-7877" b="-5255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01089" y="-533133"/>
            <a:ext cx="16232931" cy="12822077"/>
          </a:xfrm>
          <a:custGeom>
            <a:avLst/>
            <a:gdLst/>
            <a:ahLst/>
            <a:cxnLst/>
            <a:rect l="l" t="t" r="r" b="b"/>
            <a:pathLst>
              <a:path w="16232931" h="12822077">
                <a:moveTo>
                  <a:pt x="0" y="0"/>
                </a:moveTo>
                <a:lnTo>
                  <a:pt x="16232932" y="0"/>
                </a:lnTo>
                <a:lnTo>
                  <a:pt x="16232932" y="12822077"/>
                </a:lnTo>
                <a:lnTo>
                  <a:pt x="0" y="12822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28" r="-5110" b="-322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57600" y="-38100"/>
            <a:ext cx="9470390" cy="1389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35"/>
              </a:lnSpc>
              <a:spcBef>
                <a:spcPct val="0"/>
              </a:spcBef>
            </a:pPr>
            <a:r>
              <a:rPr lang="en-US" sz="774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4. MÔ HÌNH VẬT LÍ</a:t>
            </a:r>
            <a:endParaRPr lang="en-US" sz="774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221551" cy="10287000"/>
          </a:xfrm>
          <a:custGeom>
            <a:avLst/>
            <a:gdLst/>
            <a:ahLst/>
            <a:cxnLst/>
            <a:rect l="l" t="t" r="r" b="b"/>
            <a:pathLst>
              <a:path w="14221551" h="10287000">
                <a:moveTo>
                  <a:pt x="0" y="0"/>
                </a:moveTo>
                <a:lnTo>
                  <a:pt x="14221551" y="0"/>
                </a:lnTo>
                <a:lnTo>
                  <a:pt x="142215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676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85765" y="2347206"/>
            <a:ext cx="2761915" cy="118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0"/>
              </a:lnSpc>
            </a:pPr>
            <a:r>
              <a:rPr lang="en-US" sz="698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Tầng 3</a:t>
            </a:r>
            <a:endParaRPr lang="en-US" sz="698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085765" y="7296263"/>
            <a:ext cx="5703680" cy="120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0"/>
              </a:lnSpc>
            </a:pPr>
            <a:r>
              <a:rPr lang="en-US" sz="702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Tầng 1+ 2</a:t>
            </a:r>
            <a:endParaRPr lang="en-US" sz="702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12635" y="0"/>
            <a:ext cx="2613724" cy="1441043"/>
          </a:xfrm>
          <a:custGeom>
            <a:avLst/>
            <a:gdLst/>
            <a:ahLst/>
            <a:cxnLst/>
            <a:rect l="l" t="t" r="r" b="b"/>
            <a:pathLst>
              <a:path w="2613724" h="1441043">
                <a:moveTo>
                  <a:pt x="0" y="0"/>
                </a:moveTo>
                <a:lnTo>
                  <a:pt x="2613724" y="0"/>
                </a:lnTo>
                <a:lnTo>
                  <a:pt x="2613724" y="1441043"/>
                </a:lnTo>
                <a:lnTo>
                  <a:pt x="0" y="1441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622" r="-7877" b="-52557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4685" y="-28575"/>
            <a:ext cx="14686947" cy="10287000"/>
          </a:xfrm>
          <a:custGeom>
            <a:avLst/>
            <a:gdLst/>
            <a:ahLst/>
            <a:cxnLst/>
            <a:rect l="l" t="t" r="r" b="b"/>
            <a:pathLst>
              <a:path w="14686947" h="10287000">
                <a:moveTo>
                  <a:pt x="0" y="0"/>
                </a:moveTo>
                <a:lnTo>
                  <a:pt x="14686948" y="0"/>
                </a:lnTo>
                <a:lnTo>
                  <a:pt x="146869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37804" r="-14584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939018" y="257221"/>
            <a:ext cx="2320282" cy="10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587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Tầng 1</a:t>
            </a:r>
            <a:endParaRPr lang="en-US" sz="587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24431" y="9642825"/>
            <a:ext cx="2806416" cy="46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Nối với tầng trên</a:t>
            </a:r>
            <a:endParaRPr lang="en-US" sz="2775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1312"/>
            <a:ext cx="14370280" cy="10358312"/>
          </a:xfrm>
          <a:custGeom>
            <a:avLst/>
            <a:gdLst/>
            <a:ahLst/>
            <a:cxnLst/>
            <a:rect l="l" t="t" r="r" b="b"/>
            <a:pathLst>
              <a:path w="14370280" h="10358312">
                <a:moveTo>
                  <a:pt x="0" y="0"/>
                </a:moveTo>
                <a:lnTo>
                  <a:pt x="14370280" y="0"/>
                </a:lnTo>
                <a:lnTo>
                  <a:pt x="14370280" y="10358312"/>
                </a:lnTo>
                <a:lnTo>
                  <a:pt x="0" y="1035831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3184" t="-137804" r="-4982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50587" y="27664"/>
            <a:ext cx="2320282" cy="10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587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Tầng 2</a:t>
            </a:r>
            <a:endParaRPr lang="en-US" sz="587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25288" y="9725986"/>
            <a:ext cx="2806154" cy="4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r>
              <a:rPr lang="en-US" sz="2775" u="none" strike="noStrike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Nối với tầng trên</a:t>
            </a:r>
            <a:endParaRPr lang="en-US" sz="2775" u="none" strike="noStrike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1164" y="9725986"/>
            <a:ext cx="2888605" cy="4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r>
              <a:rPr lang="en-US" sz="2775" u="none" strike="noStrike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Nối với tầng dưới</a:t>
            </a:r>
            <a:endParaRPr lang="en-US" sz="2775" u="none" strike="noStrike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84910"/>
            <a:ext cx="18288000" cy="9621831"/>
          </a:xfrm>
          <a:custGeom>
            <a:avLst/>
            <a:gdLst/>
            <a:ahLst/>
            <a:cxnLst/>
            <a:rect l="l" t="t" r="r" b="b"/>
            <a:pathLst>
              <a:path w="18288000" h="9621831">
                <a:moveTo>
                  <a:pt x="0" y="0"/>
                </a:moveTo>
                <a:lnTo>
                  <a:pt x="18288000" y="0"/>
                </a:lnTo>
                <a:lnTo>
                  <a:pt x="18288000" y="9621831"/>
                </a:lnTo>
                <a:lnTo>
                  <a:pt x="0" y="96218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33279" b="-716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50587" y="27664"/>
            <a:ext cx="2320282" cy="100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587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Tầng 3</a:t>
            </a:r>
            <a:endParaRPr lang="en-US" sz="587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68261" y="1107996"/>
            <a:ext cx="153888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Tủ rack</a:t>
            </a:r>
            <a:endParaRPr lang="en-US" sz="3400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51873" y="9824099"/>
            <a:ext cx="2888605" cy="4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r>
              <a:rPr lang="en-US" sz="2775" u="none" strike="noStrike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Nối với tầng dưới</a:t>
            </a:r>
            <a:endParaRPr lang="en-US" sz="2775" u="none" strike="noStrike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92362" y="9824099"/>
            <a:ext cx="2888605" cy="4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85"/>
              </a:lnSpc>
              <a:spcBef>
                <a:spcPct val="0"/>
              </a:spcBef>
            </a:pPr>
            <a:r>
              <a:rPr lang="en-US" sz="2775" u="none" strike="noStrike">
                <a:solidFill>
                  <a:srgbClr val="000000"/>
                </a:solidFill>
                <a:latin typeface="Noto Serif Display" panose="02020502080505020204"/>
                <a:ea typeface="Noto Serif Display" panose="02020502080505020204"/>
                <a:cs typeface="Noto Serif Display" panose="02020502080505020204"/>
                <a:sym typeface="Noto Serif Display" panose="02020502080505020204"/>
              </a:rPr>
              <a:t>Nối với tầng dưới</a:t>
            </a:r>
            <a:endParaRPr lang="en-US" sz="2775" u="none" strike="noStrike">
              <a:solidFill>
                <a:srgbClr val="000000"/>
              </a:solidFill>
              <a:latin typeface="Noto Serif Display" panose="02020502080505020204"/>
              <a:ea typeface="Noto Serif Display" panose="02020502080505020204"/>
              <a:cs typeface="Noto Serif Display" panose="02020502080505020204"/>
              <a:sym typeface="Noto Serif Display" panose="02020502080505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WPS Presentation</Application>
  <PresentationFormat>On-screen Show (4:3)</PresentationFormat>
  <Paragraphs>111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Paytone One</vt:lpstr>
      <vt:lpstr>Bungee</vt:lpstr>
      <vt:lpstr>Open Sans</vt:lpstr>
      <vt:lpstr>RQND Pro Wide</vt:lpstr>
      <vt:lpstr>Arial</vt:lpstr>
      <vt:lpstr>Bevan</vt:lpstr>
      <vt:lpstr>Open Sauce</vt:lpstr>
      <vt:lpstr>Noto Serif Display</vt:lpstr>
      <vt:lpstr>Montserrat</vt:lpstr>
      <vt:lpstr>Montserrat Bold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Social Media Strategy Presentation</dc:title>
  <dc:creator/>
  <cp:lastModifiedBy>Thùy Linh</cp:lastModifiedBy>
  <cp:revision>3</cp:revision>
  <dcterms:created xsi:type="dcterms:W3CDTF">2006-08-16T00:00:00Z</dcterms:created>
  <dcterms:modified xsi:type="dcterms:W3CDTF">2025-11-17T16:59:59Z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AEBD124C73B4456CA4196C29DB528245_12</vt:lpwstr>
  </property>
  <property fmtid="{D5CDD505-2E9C-101B-9397-08002B2CF9AE}" pid="3" name="KSOProductBuildVer">
    <vt:lpwstr>1033-12.2.0.23155</vt:lpwstr>
  </property>
</Properties>
</file>